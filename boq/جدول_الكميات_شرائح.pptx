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tmp/claude-0/-home-user--/b4bdf915-6f0b-579e-a96a-77ec51a98f8c/scratchpad/deck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Ministry logo" descr="/tmp/claude-0/-home-user--/b4bdf915-6f0b-579e-a96a-77ec51a98f8c/scratchpad/deck/minis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767" y="448056"/>
            <a:ext cx="960120" cy="326441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6309360" y="365760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E2142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جدول الكميات التفصيلي</a:t>
            </a:r>
            <a:pPr algn="r"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 (1 من 3)</a:t>
            </a:r>
            <a:endParaRPr lang="en-US" sz="2400" dirty="0"/>
          </a:p>
        </p:txBody>
      </p:sp>
      <p:sp>
        <p:nvSpPr>
          <p:cNvPr id="5" name="Footer"/>
          <p:cNvSpPr txBox="1"/>
          <p:nvPr/>
        </p:nvSpPr>
        <p:spPr>
          <a:xfrm>
            <a:off x="7680960" y="6583680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8A8F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ملتقى المسؤولية الاجتماعية لقطاع الطاقة</a:t>
            </a:r>
            <a:endParaRPr lang="en-US" sz="800" dirty="0"/>
          </a:p>
        </p:txBody>
      </p:sp>
      <p:sp>
        <p:nvSpPr>
          <p:cNvPr id="6" name="T1"/>
          <p:cNvSpPr txBox="1"/>
          <p:nvPr/>
        </p:nvSpPr>
        <p:spPr>
          <a:xfrm>
            <a:off x="384048" y="896112"/>
            <a:ext cx="11430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14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بُني هذا العرض المالي على النطاق الفني المُسلَّم من فريق الوزارة في 22 سبتمبر 2026م، ولا مرجع سواهما، واشتُقّت الكميات من حزم النطاق الخمس عشرة</a:t>
            </a:r>
            <a:endParaRPr lang="en-US" sz="1300" dirty="0"/>
          </a:p>
        </p:txBody>
      </p:sp>
      <p:graphicFrame>
        <p:nvGraphicFramePr>
          <p:cNvPr id="2" name="BOQ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80160"/>
          <a:ext cx="11430000" cy="914400"/>
        </p:xfrm>
        <a:graphic>
          <a:graphicData uri="http://schemas.openxmlformats.org/drawingml/2006/table">
            <a:tbl>
              <a:tblPr/>
              <a:tblGrid>
                <a:gridCol w="1581912"/>
                <a:gridCol w="896112"/>
                <a:gridCol w="896112"/>
                <a:gridCol w="896112"/>
                <a:gridCol w="896112"/>
                <a:gridCol w="777240"/>
                <a:gridCol w="411480"/>
                <a:gridCol w="914400"/>
                <a:gridCol w="1920240"/>
                <a:gridCol w="731520"/>
                <a:gridCol w="1188720"/>
                <a:gridCol w="320040"/>
              </a:tblGrid>
              <a:tr h="5029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السعر كتابةً بالريال السعودي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الإجمالي مع VAT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VAT (15%)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السعر الإجمالي بدون VAT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سعر الوحدة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نسبة التوزيع داخل المخرج الرئيسي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العدد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الوحدة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المخرج الفرعي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نسبة المخرج الرئيسي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المخرج الرئيسي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</a:tr>
              <a:tr h="310896">
                <a:tc rowSpan="5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أربعة وخمسون ألفاً وتسعمائة وأربعة عشر ريالاً سعودياً وسبع وخمسون هللة فقط لا غير</a:t>
                      </a:r>
                      <a:endParaRPr lang="en-US" sz="8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13,728.64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1,790.69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11,937.95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11,937.95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خطة وميثاق المشروع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 تأسيس المشروع</a:t>
                      </a:r>
                      <a:endParaRPr lang="en-US" sz="10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16,474.37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2,148.83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خطة إدارة المخاطر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5,491.46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716.28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4,775.18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4,775.18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الجدول الزمني للمهام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19,220.10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2,506.97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16,713.13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16,713.13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خطة إدارة الجودة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54,914.57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7,162.77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10896">
                <a:tc rowSpan="3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أربعة وخمسون ألفاً وتسعمائة وأربعة عشر ريالاً سعودياً وسبع وخمسون هللة فقط لا غير</a:t>
                      </a:r>
                      <a:endParaRPr lang="en-US" sz="8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38,440.20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5,013.94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33,426.26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33,426.26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70.00%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لوحة مؤشرات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نظام المتابعة والجدول الموحد ولوحة المؤشرات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منظومة إدارة المشروع والحوكمة</a:t>
                      </a:r>
                      <a:endParaRPr lang="en-US" sz="10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16,474.37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2,148.83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لوحة مؤشرات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مصفوفة الحوكمة والقرارات وخريطة المعالم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54,914.57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7,162.77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لوحة مؤشرات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10896"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اثنان وثلاثون ألفاً وتسعمائة وثمانية وأربعون ريالاً سعودياً وأربع وسبعون هللة فقط لا غير</a:t>
                      </a:r>
                      <a:endParaRPr lang="en-US" sz="8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32,948.74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4,297.66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28,651.08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4,775.18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تقارير دورية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تقارير التقدّم ومحاضر الاجتماعات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تقارير التقدم</a:t>
                      </a:r>
                      <a:endParaRPr lang="en-US" sz="10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32,948.74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4,297.66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28,651.08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4,775.18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تقارير دورية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10896">
                <a:tc rowSpan="5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مائة وسبعة وتسعون ألفاً وستمائة واثنان وتسعون ريالاً سعودياً وثماني وأربعون هللة فقط لا غير</a:t>
                      </a:r>
                      <a:endParaRPr lang="en-US" sz="8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19,769.25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2,578.60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17,190.65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17,190.65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البرنامج الفني المزمّن والسيناريو التشغيلي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18.00%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برنامج الملتقى الفني ومحتواه</a:t>
                      </a:r>
                      <a:endParaRPr lang="en-US" sz="10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69,192.37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9,025.09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60,167.28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60,167.28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الجلسات الحوارية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79,076.99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10,314.39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68,762.60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68,762.60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40.00%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الورش التفاعلية والنشاط المصاحب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29,653.87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3,867.90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25,785.97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25,785.97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تهيئة المتحدثين وملفاتهم وبروفاتهم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10896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197,692.48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25,785.98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171,906.50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171,906.50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tmp/claude-0/-home-user--/b4bdf915-6f0b-579e-a96a-77ec51a98f8c/scratchpad/deck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Ministry logo" descr="/tmp/claude-0/-home-user--/b4bdf915-6f0b-579e-a96a-77ec51a98f8c/scratchpad/deck/minis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767" y="448056"/>
            <a:ext cx="960120" cy="326441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6309360" y="365760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E2142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جدول الكميات التفصيلي</a:t>
            </a:r>
            <a:pPr algn="r"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 (2 من 3)</a:t>
            </a:r>
            <a:endParaRPr lang="en-US" sz="2400" dirty="0"/>
          </a:p>
        </p:txBody>
      </p:sp>
      <p:sp>
        <p:nvSpPr>
          <p:cNvPr id="5" name="Footer"/>
          <p:cNvSpPr txBox="1"/>
          <p:nvPr/>
        </p:nvSpPr>
        <p:spPr>
          <a:xfrm>
            <a:off x="7680960" y="6583680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8A8F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ملتقى المسؤولية الاجتماعية لقطاع الطاقة</a:t>
            </a:r>
            <a:endParaRPr lang="en-US" sz="800" dirty="0"/>
          </a:p>
        </p:txBody>
      </p:sp>
      <p:graphicFrame>
        <p:nvGraphicFramePr>
          <p:cNvPr id="3" name="BOQ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96112"/>
          <a:ext cx="11430000" cy="914400"/>
        </p:xfrm>
        <a:graphic>
          <a:graphicData uri="http://schemas.openxmlformats.org/drawingml/2006/table">
            <a:tbl>
              <a:tblPr/>
              <a:tblGrid>
                <a:gridCol w="1581912"/>
                <a:gridCol w="896112"/>
                <a:gridCol w="896112"/>
                <a:gridCol w="896112"/>
                <a:gridCol w="896112"/>
                <a:gridCol w="777240"/>
                <a:gridCol w="411480"/>
                <a:gridCol w="914400"/>
                <a:gridCol w="1920240"/>
                <a:gridCol w="731520"/>
                <a:gridCol w="1188720"/>
                <a:gridCol w="320040"/>
              </a:tblGrid>
              <a:tr h="5029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السعر كتابةً بالريال السعودي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الإجمالي مع VAT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VAT (15%)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السعر الإجمالي بدون VAT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سعر الوحدة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نسبة التوزيع داخل المخرج الرئيسي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العدد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الوحدة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المخرج الفرعي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نسبة المخرج الرئيسي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المخرج الرئيسي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</a:tr>
              <a:tr h="384048"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واحد وعشرون ألفاً وتسعمائة وخمسة وستون ريالاً سعودياً وثلاث وثمانون هللة فقط لا غير</a:t>
                      </a:r>
                      <a:endParaRPr lang="en-US" sz="8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21,965.83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2,865.11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 الهوية وقوالب المواد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 الهوية وقوالب المواد</a:t>
                      </a:r>
                      <a:endParaRPr lang="en-US" sz="10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21,965.83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2,865.11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84048"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مائة وتسعة آلاف وثمانمائة وتسعة وعشرون ريالاً سعودياً وخمس عشرة هللة فقط لا غير</a:t>
                      </a:r>
                      <a:endParaRPr lang="en-US" sz="8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109,829.15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95,503.61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95,503.61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مؤشرات النجاح ومستهدفاتها وأدوات قياسها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إطار مؤشرات النجاح وقياس أدائها</a:t>
                      </a:r>
                      <a:endParaRPr lang="en-US" sz="10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109,829.15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95,503.61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95,503.61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84048"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أربعة وخمسون ألفاً وتسعمائة وأربعة عشر ريالاً سعودياً وسبع وخمسون هللة فقط لا غير</a:t>
                      </a:r>
                      <a:endParaRPr lang="en-US" sz="8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54,914.57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7,162.77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قاعدة بيانات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قاعدة بيانات الشركات والخبراء والمدعوين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قاعدة بيانات المشاركين</a:t>
                      </a:r>
                      <a:endParaRPr lang="en-US" sz="10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54,914.57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7,162.77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قاعدة بيانات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84048">
                <a:tc rowSpan="3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مائة وسبعة عشر ألفاً وخمسمائة وسبعة عشر ريالاً سعودياً وتسع عشرة هللة فقط لا غير</a:t>
                      </a:r>
                      <a:endParaRPr lang="en-US" sz="8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58,758.59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7,664.16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51,094.43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51,094.43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نموذج التسجيل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نموذج التسجيل الإلكتروني وتشغيله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10.70%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التسجيل والاستقبال</a:t>
                      </a:r>
                      <a:endParaRPr lang="en-US" sz="10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58,758.60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7,664.17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51,094.43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232.25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220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بطاقة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بطاقات المشاركين وتشغيل الاستقبال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117,517.19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15,328.33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102,188.86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102,188.86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221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نموذج التسجيل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84048"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واحد وعشرون ألفاً وتسعمائة وخمسة وستون ريالاً سعودياً وثلاث وثمانون هللة فقط لا غير</a:t>
                      </a:r>
                      <a:endParaRPr lang="en-US" sz="8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21,965.83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2,865.11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الخطة الإعلامية التوعوية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تخطيط الحملة الإعلامية</a:t>
                      </a:r>
                      <a:endParaRPr lang="en-US" sz="10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9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21,965.83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2,865.11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tmp/claude-0/-home-user--/b4bdf915-6f0b-579e-a96a-77ec51a98f8c/scratchpad/deck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Ministry logo" descr="/tmp/claude-0/-home-user--/b4bdf915-6f0b-579e-a96a-77ec51a98f8c/scratchpad/deck/minis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767" y="448056"/>
            <a:ext cx="960120" cy="326441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6309360" y="365760"/>
            <a:ext cx="550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1E2142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جدول الكميات التفصيلي</a:t>
            </a:r>
            <a:pPr algn="r" indent="0" marL="0">
              <a:buNone/>
            </a:pPr>
            <a:r>
              <a:rPr lang="en-US" sz="1400" dirty="0">
                <a:solidFill>
                  <a:srgbClr val="8A8F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 (3 من 3)</a:t>
            </a:r>
            <a:endParaRPr lang="en-US" sz="2400" dirty="0"/>
          </a:p>
        </p:txBody>
      </p:sp>
      <p:sp>
        <p:nvSpPr>
          <p:cNvPr id="5" name="Footer"/>
          <p:cNvSpPr txBox="1"/>
          <p:nvPr/>
        </p:nvSpPr>
        <p:spPr>
          <a:xfrm>
            <a:off x="7680960" y="6583680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8A8F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ملتقى المسؤولية الاجتماعية لقطاع الطاقة</a:t>
            </a:r>
            <a:endParaRPr lang="en-US" sz="800" dirty="0"/>
          </a:p>
        </p:txBody>
      </p:sp>
      <p:graphicFrame>
        <p:nvGraphicFramePr>
          <p:cNvPr id="4" name="BOQ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96112"/>
          <a:ext cx="11430000" cy="914400"/>
        </p:xfrm>
        <a:graphic>
          <a:graphicData uri="http://schemas.openxmlformats.org/drawingml/2006/table">
            <a:tbl>
              <a:tblPr/>
              <a:tblGrid>
                <a:gridCol w="1581912"/>
                <a:gridCol w="896112"/>
                <a:gridCol w="896112"/>
                <a:gridCol w="896112"/>
                <a:gridCol w="896112"/>
                <a:gridCol w="777240"/>
                <a:gridCol w="411480"/>
                <a:gridCol w="914400"/>
                <a:gridCol w="1920240"/>
                <a:gridCol w="731520"/>
                <a:gridCol w="1188720"/>
                <a:gridCol w="320040"/>
              </a:tblGrid>
              <a:tr h="5029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السعر كتابةً بالريال السعودي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الإجمالي مع VAT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VAT (15%)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السعر الإجمالي بدون VAT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سعر الوحدة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نسبة التوزيع داخل المخرج الرئيسي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العدد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الوحدة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المخرج الفرعي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نسبة المخرج الرئيسي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المخرج الرئيسي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</a:tr>
              <a:tr h="346065">
                <a:tc row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خمسة وستون ألفاً وثمانمائة وسبعة وتسعون ريالاً سعودياً وخمسون هللة فقط لا غير</a:t>
                      </a:r>
                      <a:endParaRPr lang="en-US" sz="8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29,653.88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3,867.90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25,785.98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25,785.98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45.00%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فيديوهات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المرحلة الأولى (الفيديوهات)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6.00%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تنفيذ الحملة الإعلامية</a:t>
                      </a:r>
                      <a:endParaRPr lang="en-US" sz="10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4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46065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16,474.37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2,148.83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4,775.18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إنفوجراف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المرحلة الأولى (الإنفوجراف)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46065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19,769.25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2,578.60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17,190.65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17,190.65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فيديوهات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المرحلة الثانية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46065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65,897.50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8,595.33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57,302.17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11,460.43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مواد إعلامية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46065">
                <a:tc rowSpan="5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مائتان وتسعة وتسعون ألفاً وثمانمائة وثلاثة وثلاثون ريالاً سعودياً وثماني وخمسون هللة فقط لا غير</a:t>
                      </a:r>
                      <a:endParaRPr lang="en-US" sz="8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74,958.39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9,777.18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65,181.21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65,181.21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ضوابط الهوية وتجربة الزائر للمعرض، ونماذج مطابقة مخرجات المورد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27.30%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الجاهزية التشغيلية وتنفيذ يوم الملتقى</a:t>
                      </a:r>
                      <a:endParaRPr lang="en-US" sz="10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46065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104,941.76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13,688.06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91,253.70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91,253.70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إدارة الأعمال المؤقّرة والمورد الموجّه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46065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44,975.04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5,866.31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39,108.73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39,108.73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تغطية بصرية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التغطية الإعلامية يوم الملتقى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46065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74,958.39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9,777.18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65,181.21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65,181.21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 الإنتاج والمطبوعات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46065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299,833.58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39,108.73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260,724.85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260,724.85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دعم تشغيلي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46065">
                <a:tc row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خمسة وستون ألفاً وثمانمائة وسبعة وتسعون ريالاً سعودياً وخمسون هللة فقط لا غير</a:t>
                      </a:r>
                      <a:endParaRPr lang="en-US" sz="8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23,064.12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3,008.36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20,055.76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20,055.76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التقرير الختامي والتوثيق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6.00%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الإغلاق وقياس الأثر</a:t>
                      </a:r>
                      <a:endParaRPr lang="en-US" sz="10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4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12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46065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26,359.00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3,438.13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22,920.87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22,920.87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40.00%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استبانة قياس الرضا والأثر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46065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16,474.38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2,148.84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25.00%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الأرشفة والإغلاق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46065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65,897.50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8,595.33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57,302.17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57,302.17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تقرير ختامي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9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مليون وثمانية وتسعون ألفاً ومائتان وواحد وتسعون ريالاً سعودياً وإحدى وخمسون هللة فقط لا غير</a:t>
                      </a:r>
                      <a:endParaRPr lang="en-US" sz="8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1,098,291.51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143,255.43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955,036.08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 grid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الإجمالي</a:t>
                      </a:r>
                      <a:endParaRPr lang="en-US" sz="9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jaw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jaw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جدول الكميات التفصيلي</dc:title>
  <dc:subject>PptxGenJS Presentation</dc:subject>
  <dc:creator>PptxGenJS</dc:creator>
  <cp:lastModifiedBy>PptxGenJS</cp:lastModifiedBy>
  <cp:revision>1</cp:revision>
  <dcterms:created xsi:type="dcterms:W3CDTF">2026-10-08T14:54:46Z</dcterms:created>
  <dcterms:modified xsi:type="dcterms:W3CDTF">2026-10-08T14:54:46Z</dcterms:modified>
</cp:coreProperties>
</file>