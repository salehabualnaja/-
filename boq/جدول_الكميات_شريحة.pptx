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ackground" descr="/tmp/claude-0/-home-user--/b4bdf915-6f0b-579e-a96a-77ec51a98f8c/scratchpad/deck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Ministry logo" descr="/tmp/claude-0/-home-user--/b4bdf915-6f0b-579e-a96a-77ec51a98f8c/scratchpad/deck/mini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767" y="448056"/>
            <a:ext cx="960120" cy="326441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7680960" y="365760"/>
            <a:ext cx="41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400" dirty="0">
                <a:solidFill>
                  <a:srgbClr val="1E2142"/>
                </a:solidFill>
                <a:latin typeface="Tajawal ExtraBold" pitchFamily="34" charset="0"/>
                <a:ea typeface="Tajawal ExtraBold" pitchFamily="34" charset="-122"/>
                <a:cs typeface="Tajawal ExtraBold" pitchFamily="34" charset="-120"/>
              </a:rPr>
              <a:t>جدول الكميات التفصيلي</a:t>
            </a:r>
            <a:endParaRPr lang="en-US" sz="2400" dirty="0"/>
          </a:p>
        </p:txBody>
      </p:sp>
      <p:sp>
        <p:nvSpPr>
          <p:cNvPr id="5" name="Footer"/>
          <p:cNvSpPr txBox="1"/>
          <p:nvPr/>
        </p:nvSpPr>
        <p:spPr>
          <a:xfrm>
            <a:off x="7680960" y="6583680"/>
            <a:ext cx="4133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800" dirty="0">
                <a:solidFill>
                  <a:srgbClr val="8A8FA3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ملتقى المسؤولية الاجتماعية لقطاع الطاقة</a:t>
            </a:r>
            <a:endParaRPr lang="en-US" sz="800" dirty="0"/>
          </a:p>
        </p:txBody>
      </p:sp>
      <p:graphicFrame>
        <p:nvGraphicFramePr>
          <p:cNvPr id="2" name="BOQ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896112"/>
          <a:ext cx="11430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777240"/>
                <a:gridCol w="914400"/>
                <a:gridCol w="868680"/>
                <a:gridCol w="713232"/>
                <a:gridCol w="365760"/>
                <a:gridCol w="731520"/>
                <a:gridCol w="2084832"/>
                <a:gridCol w="630936"/>
                <a:gridCol w="1188720"/>
                <a:gridCol w="320040"/>
              </a:tblGrid>
              <a:tr h="347472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كتابةً بالريال السعودي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الإجمالي مع VAT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VAT (15%)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السعر الإجمالي بدون VAT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سعر الوحدة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التوزيع داخل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العدد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الوحدة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الفرعي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نسبة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</a:tr>
              <a:tr h="126187"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أربعة وخمسون ألفاً وتسعمائة وأربعة عشر ريالاً سعودياً وسبع وخمسون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13,728.64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1,790.69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11,937.95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11,937.95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خطة وميثاق المشروع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تأسيس المشروع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خطة إدارة المخاطر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5,491.46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716.28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الجدول الزمني للمهام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19,220.10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2,506.97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16,713.13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16,713.13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خطة إدارة الجودة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أربعة وخمسون ألفاً وتسعمائة وأربعة عشر ريالاً سعودياً وسبع وخمسون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38,440.20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5,013.94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33,426.26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33,426.26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70.00%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لوحة مؤشرات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نظام المتابعة والجدول الموحد ولوحة المؤشرات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منظومة إدارة المشروع والحوكمة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لوحة مؤشرات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مصفوفة الحوكمة والقرارات وخريطة المعالم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لوحة مؤشرات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اثنان وثلاثون ألفاً وتسعمائة وثمانية وأربعون ريالاً سعودياً وأربع وسبعون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32,948.74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4,297.66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28,651.08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دورية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التقدّم ومحاضر الاجتماعات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التقدم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32,948.74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4,297.66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28,651.08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تقارير دورية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مائة وسبعة وتسعون ألفاً وستمائة واثنان وتسعون ريالاً سعودياً وثماني وأربعون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19,769.25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2,578.60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البرنامج الفني المزمّن والسيناريو التشغيلي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18.00%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برنامج الملتقى الفني ومحتواه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69,192.37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9,025.09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60,167.28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60,167.28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الجلسات الحوارية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79,076.99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10,314.39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68,762.60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68,762.60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الورش التفاعلية والنشاط المصاحب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29,653.87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3,867.90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تهيئة المتحدثين وملفاتهم وبروفاتهم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197,692.48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171,906.50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171,906.50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واحد وعشرون ألفاً وتسعمائة وخمسة وستون ريالاً سعودياً وثلاث وثمانون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الهوية وقوالب المواد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الهوية وقوالب المواد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مائة وتسعة آلاف وثمانمائة وتسعة وعشرون ريالاً سعودياً وخمس عشرة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109,829.15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مؤشرات النجاح ومستهدفاتها وأدوات قياسها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إطار مؤشرات النجاح وقياس أدائها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109,829.15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95,503.61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أربعة وخمسون ألفاً وتسعمائة وأربعة عشر ريالاً سعودياً وسبع وخمسون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 الشركات والخبراء والمدعوين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 المشاركين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54,914.57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7,162.77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47,751.80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قاعدة بيانات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مائة وسبعة عشر ألفاً وخمسمائة وسبعة عشر ريالاً سعودياً وتسع عشرة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58,758.59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7,664.16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51,094.43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51,094.43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نموذج التسجيل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نموذج التسجيل الإلكتروني وتشغيله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10.70%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التسجيل والاستقبال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3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58,758.60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7,664.17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51,094.43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232.25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220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بطاقة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بطاقات المشاركين وتشغيل الاستقبال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117,517.19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15,328.33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102,188.86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102,188.86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نموذج التسجيل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واحد وعشرون ألفاً وتسعمائة وخمسة وستون ريالاً سعودياً وثلاث وثمانون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الخطة الإعلامية التوعوية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تخطيط الحملة الإعلامية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21,965.83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2,865.11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19,100.72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خمسة وستون ألفاً وثمانمائة وسبعة وتسعون ريالاً سعودياً وخمسون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29,653.88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3,867.90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25,785.98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فيديوهات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المرحلة الأولى (الفيديوهات)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تنفيذ الحملة الإعلامية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4,775.18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إنفوجراف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المرحلة الأولى (الإنفوجراف)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19,769.25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2,578.60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17,190.65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فيديوهات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المرحلة الثانية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65,897.50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8,595.33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57,302.17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11,460.43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مواد إعلامية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19456"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مائتان وتسعة وتسعون ألفاً وثمانمائة وثلاثة وثلاثون ريالاً سعودياً وثماني وخمسون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74,958.39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9,777.18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ضوابط الهوية وتجربة الزائر للمعرض، ونماذج مطابقة مخرجات المورد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27.30%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الجاهزية التشغيلية وتنفيذ يوم الملتقى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104,941.76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13,688.06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91,253.70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91,253.70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إدارة الأعمال المؤقّرة والمورد الموجّه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44,975.04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5,866.31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39,108.73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39,108.73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تغطية بصرية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التغطية الإعلامية يوم الملتقى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74,958.39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9,777.18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65,181.21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حزمة الإنتاج والمطبوعات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299,833.58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39,108.73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260,724.85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260,724.85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دعم تشغيلي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خمسة وستون ألفاً وثمانمائة وسبعة وتسعون ريالاً سعودياً وخمسون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23,064.12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3,008.36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20,055.76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20,055.76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35.00%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التقرير الختامي والتوثيق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2E7F81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6.00%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الإغلاق وقياس الأثر</a:t>
                      </a:r>
                      <a:endParaRPr lang="en-US" sz="7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  <a:tc rowSpan="4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12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8"/>
                    </a:solidFill>
                  </a:tcPr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26,359.00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3,438.13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22,920.87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22,920.87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40.00%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استبانة قياس الرضا والأثر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16,474.38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2,148.84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14,325.54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25.00%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وثيقة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الأرشفة والإغلاق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26187">
                <a:tc v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65,897.50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8,595.33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57,302.17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57,302.17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تقرير ختامي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700" b="1" dirty="0">
                          <a:solidFill>
                            <a:srgbClr val="1E2142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إجمالي المخرج الرئيسي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F1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مليون وثمانية وتسعون ألفاً ومائتان وواحد وتسعون ريالاً سعودياً وإحدى وخمسون هللة فقط لا غير</a:t>
                      </a:r>
                      <a:endParaRPr lang="en-US" sz="65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1,098,291.51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143,255.43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SAR 955,036.08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gridSpan="5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100.00%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Tajawal" pitchFamily="34" charset="0"/>
                          <a:ea typeface="Tajawal" pitchFamily="34" charset="-122"/>
                          <a:cs typeface="Tajawal" pitchFamily="34" charset="-120"/>
                        </a:rPr>
                        <a:t>الإجمالي</a:t>
                      </a:r>
                      <a:endParaRPr lang="en-US" sz="700" dirty="0">
                        <a:latin typeface="Tajawal" charset="0"/>
                        <a:ea typeface="Tajawal" charset="0"/>
                        <a:cs typeface="Tajaw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42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ajaw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ajaw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جدول الكميات التفصيلي</dc:title>
  <dc:subject>PptxGenJS Presentation</dc:subject>
  <dc:creator>PptxGenJS</dc:creator>
  <cp:lastModifiedBy>PptxGenJS</cp:lastModifiedBy>
  <cp:revision>1</cp:revision>
  <dcterms:created xsi:type="dcterms:W3CDTF">2026-10-08T12:53:56Z</dcterms:created>
  <dcterms:modified xsi:type="dcterms:W3CDTF">2026-10-08T12:53:56Z</dcterms:modified>
</cp:coreProperties>
</file>